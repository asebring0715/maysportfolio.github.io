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14"/>
  </p:notesMasterIdLst>
  <p:sldIdLst>
    <p:sldId id="266" r:id="rId5"/>
    <p:sldId id="270" r:id="rId6"/>
    <p:sldId id="271" r:id="rId7"/>
    <p:sldId id="272" r:id="rId8"/>
    <p:sldId id="273" r:id="rId9"/>
    <p:sldId id="274" r:id="rId10"/>
    <p:sldId id="275" r:id="rId11"/>
    <p:sldId id="277" r:id="rId12"/>
    <p:sldId id="27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15086-06BC-4F78-B508-4E1F94CCB86B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4AFE6-52F8-436F-9DAC-607E2BE5A9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631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1093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B854D-6335-683C-FFB6-F593E2C2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67BECE-0042-4106-B7D7-E3A55F82DA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438BF8-8961-21DF-AF6A-A31B37B7B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8C175E-EC48-453D-4355-86EA911703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194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F1498-10BB-F439-3BC6-45CD2539D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0582DB-B667-2C62-ABDB-4DE25A988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A4A995-F1D0-2784-E265-0D500CCA3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941388-B82A-AA1C-EF97-6AB39F4A36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9267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CB0CB-E78C-4150-A365-006ABBEA8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A605CB-FA76-DE96-660E-481E4BDDB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DABC5-DAC4-BB3E-9F2E-AAB3180830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CD8E13-29E7-2572-C9C1-E1C3B2D1F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34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9CCEA-9730-74C2-EEDC-900D98FDBE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7EAC83-718E-CDF2-505C-0302A55C06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EC3419-3EB7-6F34-104A-1C6FFA1E4E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881C48-51AC-5965-6203-92583C3E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319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B75B-220B-60EC-0B72-98F6794C5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4A0C1-FB30-73A0-853A-6B21D6175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00E92B-5F05-611C-E2EC-96323A4520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3A6AF-CF0A-7970-49F6-3DFEC34CAC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442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4A06-F64F-FC27-818A-1E06924A9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15CA1-4A54-4CB8-06A8-239632D46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DB8F01-B272-F52F-C619-1A64CC22F3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A405-AFC5-CDCE-D298-E3DBF47DE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D4AFE6-52F8-436F-9DAC-607E2BE5A99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3629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A85BB-8327-437A-900F-6A3DB7A5ABC9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FA0BC-E7BB-4D55-8710-E8474A66771E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8A1C5-682A-4617-9A91-5759A79A935B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FD0D0-99D2-4A10-AC62-6E2E6CF7A9EE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7DEDF-EB2B-4F7F-B2DF-97C28C8FCBC9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80351-56D7-412F-9F2E-17819DF3B01D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8F068B-C601-4124-944A-AED7D3FD7517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7A73-7818-460B-8F62-87CD8A1DAD1A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CF8665-A302-4073-9097-DCE6BA8A5D14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3878A-9A6C-446F-AE2D-FA0E8037C59B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C5687-D9F1-45E2-A621-A964456C9C51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05D98-6779-42E9-AA36-C6D6C2CA339B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4117-4E55-454A-B008-5B316A3C4A1E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5336-EDD6-4B11-BDCB-D9716D9D0CAD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0B30B-3EA6-4689-8E7C-D798375DFD60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5E6C6-E680-4C09-9A82-6D6D4A458B45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7BBFA-E374-465F-B18D-F6CE71921593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38D89FA6-8D64-42DE-8A02-4A6662349BFD}" type="datetime1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A675F33-98AF-4B83-A3BB-0780A2314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D85834-55D9-470E-9834-623384F24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418" b="6313"/>
          <a:stretch/>
        </p:blipFill>
        <p:spPr>
          <a:xfrm>
            <a:off x="-3175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812CC5-3F64-4837-AE94-66C400A325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>
            <a:normAutofit/>
          </a:bodyPr>
          <a:lstStyle/>
          <a:p>
            <a:r>
              <a:rPr lang="en-US" dirty="0"/>
              <a:t>SCRUM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012D5-B732-49FA-8D2C-A5C52B3641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765100" cy="194733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Guitar Shop CRUD</a:t>
            </a:r>
          </a:p>
          <a:p>
            <a:r>
              <a:rPr lang="en-US" dirty="0">
                <a:solidFill>
                  <a:schemeClr val="tx1"/>
                </a:solidFill>
              </a:rPr>
              <a:t>CIS 266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325B365-634A-B464-2688-3E73CED481D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5000"/>
          </a:blip>
          <a:srcRect r="23402"/>
          <a:stretch>
            <a:fillRect/>
          </a:stretch>
        </p:blipFill>
        <p:spPr>
          <a:xfrm>
            <a:off x="4761956" y="363100"/>
            <a:ext cx="5860115" cy="50014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softEdge rad="3175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524B32-23B2-44E2-D90E-B19BFB7371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222524">
            <a:off x="6742486" y="2143113"/>
            <a:ext cx="4179950" cy="417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3100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E0AEC80-8115-4F41-B41A-43D500026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9418" b="6313"/>
          <a:stretch/>
        </p:blipFill>
        <p:spPr>
          <a:xfrm>
            <a:off x="3174" y="10"/>
            <a:ext cx="1219200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F4020B-BD58-413B-9283-2C8C1ABABA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2" y="685800"/>
            <a:ext cx="8001000" cy="900546"/>
          </a:xfrm>
        </p:spPr>
        <p:txBody>
          <a:bodyPr>
            <a:normAutofit/>
          </a:bodyPr>
          <a:lstStyle/>
          <a:p>
            <a:r>
              <a:rPr lang="en-US" dirty="0"/>
              <a:t>Team members &amp;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048AD-5F12-4F20-8B94-DCE98507F9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4212" y="1703340"/>
            <a:ext cx="6970424" cy="3069551"/>
          </a:xfrm>
        </p:spPr>
        <p:txBody>
          <a:bodyPr>
            <a:normAutofit/>
          </a:bodyPr>
          <a:lstStyle/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Victoria Mayer – SCRUM Master, code review &amp; polish, DB setup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Yacob Hiben – Foundational file structure and code, page styles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Amanda Mays – Coding support</a:t>
            </a:r>
          </a:p>
        </p:txBody>
      </p:sp>
    </p:spTree>
    <p:extLst>
      <p:ext uri="{BB962C8B-B14F-4D97-AF65-F5344CB8AC3E}">
        <p14:creationId xmlns:p14="http://schemas.microsoft.com/office/powerpoint/2010/main" val="77158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B1D40-D95B-309B-3EAC-5CFF03651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482436"/>
          </a:xfrm>
        </p:spPr>
        <p:txBody>
          <a:bodyPr/>
          <a:lstStyle/>
          <a:p>
            <a:r>
              <a:rPr lang="en-US" dirty="0"/>
              <a:t>Project goals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47F9F84-4BD9-753A-75F0-07B4DACB6317}"/>
              </a:ext>
            </a:extLst>
          </p:cNvPr>
          <p:cNvSpPr txBox="1">
            <a:spLocks/>
          </p:cNvSpPr>
          <p:nvPr/>
        </p:nvSpPr>
        <p:spPr>
          <a:xfrm>
            <a:off x="684212" y="1703340"/>
            <a:ext cx="6970424" cy="3069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Build a web service that supports CRUD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AJAJ, PHP and a MySQL database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 a functional API with testers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Enable manipulation of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data in the guitar shop DB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4C3835-0E0D-C55C-8532-35D131EA6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098" y="534801"/>
            <a:ext cx="4204154" cy="50053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24856E-F585-35A7-A5C9-2FB1F76A0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8872" y="3723270"/>
            <a:ext cx="5004082" cy="25999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51218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872F8-ED9A-C69D-F948-AA5854C85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A029-4AFB-37C8-9D41-97EEEF7D9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482436"/>
          </a:xfrm>
        </p:spPr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6C86631-CFEF-25D5-3DF0-00A94362F341}"/>
              </a:ext>
            </a:extLst>
          </p:cNvPr>
          <p:cNvSpPr txBox="1">
            <a:spLocks/>
          </p:cNvSpPr>
          <p:nvPr/>
        </p:nvSpPr>
        <p:spPr>
          <a:xfrm>
            <a:off x="684212" y="1703340"/>
            <a:ext cx="6970424" cy="3069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SzPct val="70000"/>
            </a:pPr>
            <a:r>
              <a:rPr lang="en-US" b="1" dirty="0">
                <a:solidFill>
                  <a:schemeClr val="tx1"/>
                </a:solidFill>
              </a:rPr>
              <a:t>Sprint 1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Design and create database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PHP classes (guitar, customer, order, DB)</a:t>
            </a:r>
          </a:p>
          <a:p>
            <a:pPr>
              <a:buSzPct val="70000"/>
            </a:pPr>
            <a:r>
              <a:rPr lang="en-US" b="1" dirty="0">
                <a:solidFill>
                  <a:schemeClr val="tx1"/>
                </a:solidFill>
              </a:rPr>
              <a:t>Sprint 2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API endpoint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API testers</a:t>
            </a:r>
          </a:p>
          <a:p>
            <a:pPr>
              <a:buSzPct val="70000"/>
            </a:pPr>
            <a:r>
              <a:rPr lang="en-US" b="1" dirty="0">
                <a:solidFill>
                  <a:schemeClr val="tx1"/>
                </a:solidFill>
              </a:rPr>
              <a:t>Sprint 3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Client UI and design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CRUD for all 3 tables</a:t>
            </a:r>
          </a:p>
        </p:txBody>
      </p:sp>
    </p:spTree>
    <p:extLst>
      <p:ext uri="{BB962C8B-B14F-4D97-AF65-F5344CB8AC3E}">
        <p14:creationId xmlns:p14="http://schemas.microsoft.com/office/powerpoint/2010/main" val="352670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69FF5-3A3B-A8F9-564D-644C8003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7C235-A98D-934D-ED3B-8E1206DE1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482436"/>
          </a:xfrm>
        </p:spPr>
        <p:txBody>
          <a:bodyPr/>
          <a:lstStyle/>
          <a:p>
            <a:r>
              <a:rPr lang="en-US" dirty="0"/>
              <a:t>classes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D822C4-EE2E-A6BF-069D-6DEB2BED0778}"/>
              </a:ext>
            </a:extLst>
          </p:cNvPr>
          <p:cNvSpPr txBox="1">
            <a:spLocks/>
          </p:cNvSpPr>
          <p:nvPr/>
        </p:nvSpPr>
        <p:spPr>
          <a:xfrm>
            <a:off x="684212" y="1703340"/>
            <a:ext cx="6970424" cy="3069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SzPct val="70000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9BA22E6-EAD7-C8DC-6CC0-2B5B09B14CDF}"/>
              </a:ext>
            </a:extLst>
          </p:cNvPr>
          <p:cNvSpPr txBox="1">
            <a:spLocks/>
          </p:cNvSpPr>
          <p:nvPr/>
        </p:nvSpPr>
        <p:spPr>
          <a:xfrm>
            <a:off x="836611" y="1855741"/>
            <a:ext cx="7969185" cy="94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Classes Guitar, Customer, and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Order use similar structure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C7E4F6B-A011-83A0-3EC5-DD606A398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7825" y="325639"/>
            <a:ext cx="3146569" cy="6206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201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1C534-4A6A-71A0-EE9B-556C830D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302A6-592C-5A57-F8DD-8D2B01F6B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482436"/>
          </a:xfrm>
        </p:spPr>
        <p:txBody>
          <a:bodyPr/>
          <a:lstStyle/>
          <a:p>
            <a:r>
              <a:rPr lang="en-US" dirty="0"/>
              <a:t>Db class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0F6262E-3923-1193-8A29-9A7D49BF5BFD}"/>
              </a:ext>
            </a:extLst>
          </p:cNvPr>
          <p:cNvSpPr txBox="1">
            <a:spLocks/>
          </p:cNvSpPr>
          <p:nvPr/>
        </p:nvSpPr>
        <p:spPr>
          <a:xfrm>
            <a:off x="684212" y="1703340"/>
            <a:ext cx="6970424" cy="3069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SzPct val="70000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911E040-5D11-AE77-4037-8A9B1B1316EF}"/>
              </a:ext>
            </a:extLst>
          </p:cNvPr>
          <p:cNvSpPr txBox="1">
            <a:spLocks/>
          </p:cNvSpPr>
          <p:nvPr/>
        </p:nvSpPr>
        <p:spPr>
          <a:xfrm>
            <a:off x="836611" y="1855740"/>
            <a:ext cx="7969185" cy="148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Creates connection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Contains methods to interact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with MySQL tables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Follows pattern using mysqli_query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F5A57E-8250-F203-D46B-8CEAD0936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1625" y="1333600"/>
            <a:ext cx="4797183" cy="1669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02B5FD-4AC2-7D7F-937F-1C55CF1C9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8950" y="3608340"/>
            <a:ext cx="5545177" cy="12624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549C21-1772-073F-DEB6-1F66599D56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5433" y="5091543"/>
            <a:ext cx="8682038" cy="13577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5E226A-562A-9C7B-3638-34505D7993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2864" y="2486888"/>
            <a:ext cx="2495340" cy="362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9262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30CB5-57DE-CAE4-EC6C-F2CD01578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1DD49-3736-B774-4060-5875B728D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482436"/>
          </a:xfrm>
        </p:spPr>
        <p:txBody>
          <a:bodyPr/>
          <a:lstStyle/>
          <a:p>
            <a:r>
              <a:rPr lang="en-US" dirty="0"/>
              <a:t>api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5C9B994-E578-C434-82E1-AA5CD6898FE2}"/>
              </a:ext>
            </a:extLst>
          </p:cNvPr>
          <p:cNvSpPr txBox="1">
            <a:spLocks/>
          </p:cNvSpPr>
          <p:nvPr/>
        </p:nvSpPr>
        <p:spPr>
          <a:xfrm>
            <a:off x="684212" y="1703340"/>
            <a:ext cx="6970424" cy="3069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SzPct val="70000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B6733AF-51BA-7790-1F2D-721906E318FD}"/>
              </a:ext>
            </a:extLst>
          </p:cNvPr>
          <p:cNvSpPr txBox="1">
            <a:spLocks/>
          </p:cNvSpPr>
          <p:nvPr/>
        </p:nvSpPr>
        <p:spPr>
          <a:xfrm>
            <a:off x="836611" y="1855741"/>
            <a:ext cx="7969185" cy="1480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Takes request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Reads data from URL, form post, or JSON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Puts into array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Reads table and action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3A0DE6F-A7FF-55EB-08A7-5BAAD8569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191" y="433637"/>
            <a:ext cx="3563209" cy="392815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665E99D-5785-9DB9-AC45-B834E5EB07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1474" y="5192060"/>
            <a:ext cx="3667247" cy="8944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173C12-2138-8878-D2B9-D3A143B5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5982" y="4613956"/>
            <a:ext cx="6511636" cy="2050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1677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38F63-E0EC-D2B5-3983-667117CFD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F27AE-3334-1889-33B9-695492901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482436"/>
          </a:xfrm>
        </p:spPr>
        <p:txBody>
          <a:bodyPr/>
          <a:lstStyle/>
          <a:p>
            <a:r>
              <a:rPr lang="en-US" dirty="0"/>
              <a:t>Client ajax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7A70146-0BFE-951E-8AAB-46A9884A7C41}"/>
              </a:ext>
            </a:extLst>
          </p:cNvPr>
          <p:cNvSpPr txBox="1">
            <a:spLocks/>
          </p:cNvSpPr>
          <p:nvPr/>
        </p:nvSpPr>
        <p:spPr>
          <a:xfrm>
            <a:off x="684212" y="1703340"/>
            <a:ext cx="6970424" cy="3069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SzPct val="70000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0B10365-4ACB-8A93-C773-CB2546D36852}"/>
              </a:ext>
            </a:extLst>
          </p:cNvPr>
          <p:cNvSpPr txBox="1">
            <a:spLocks/>
          </p:cNvSpPr>
          <p:nvPr/>
        </p:nvSpPr>
        <p:spPr>
          <a:xfrm>
            <a:off x="836611" y="1855741"/>
            <a:ext cx="7969185" cy="1480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HTML with jQuery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Sends request in background (async)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Packages JSON object to post to API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.done writes result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7AFC2-1C8F-347C-2C8D-3AE74E46FC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846" y="3521870"/>
            <a:ext cx="6176191" cy="28073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8D9DB3F-9173-AD5A-7327-555E9F2F2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8513" y="966933"/>
            <a:ext cx="3124636" cy="3258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101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595D9-D3D7-EBF9-55C6-2F827A8DA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869F6-0770-D8B3-DC59-123945D8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1482436"/>
          </a:xfrm>
        </p:spPr>
        <p:txBody>
          <a:bodyPr/>
          <a:lstStyle/>
          <a:p>
            <a:r>
              <a:rPr lang="en-US" dirty="0"/>
              <a:t>Debugging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CE7643-208A-0752-756D-344108CBA3C9}"/>
              </a:ext>
            </a:extLst>
          </p:cNvPr>
          <p:cNvSpPr txBox="1">
            <a:spLocks/>
          </p:cNvSpPr>
          <p:nvPr/>
        </p:nvSpPr>
        <p:spPr>
          <a:xfrm>
            <a:off x="684212" y="1703340"/>
            <a:ext cx="6970424" cy="30695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SzPct val="70000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7B9463B-DC5D-1E3F-1736-DCD3422C91B9}"/>
              </a:ext>
            </a:extLst>
          </p:cNvPr>
          <p:cNvSpPr txBox="1">
            <a:spLocks/>
          </p:cNvSpPr>
          <p:nvPr/>
        </p:nvSpPr>
        <p:spPr>
          <a:xfrm>
            <a:off x="836611" y="1855741"/>
            <a:ext cx="7969185" cy="1480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20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Use built in testers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View raw API response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Blank page or errors show problems with PHP</a:t>
            </a:r>
          </a:p>
          <a:p>
            <a:pPr marL="342900" indent="-342900">
              <a:buSzPct val="70000"/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Check DevTools in the browser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A36BDA-05DA-526C-0356-B790A8931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019" y="685800"/>
            <a:ext cx="3141353" cy="2334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FBD476-3684-AE59-D9E9-8A96C89934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2693"/>
          <a:stretch>
            <a:fillRect/>
          </a:stretch>
        </p:blipFill>
        <p:spPr>
          <a:xfrm>
            <a:off x="427001" y="3521870"/>
            <a:ext cx="3848637" cy="33361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E81D3C-FBB9-2FFF-B054-A9787059F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9295" y="3381844"/>
            <a:ext cx="1667108" cy="12098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9A004B-2DE0-CA46-8194-1E51EDF3F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4631" y="3238115"/>
            <a:ext cx="5036127" cy="3386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814453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B8EF33-82AA-4779-AFAA-C56669D00D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B414F3-C833-4395-8C69-0E806C518171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55FDEB4C-941C-4EBE-9462-062D8A0ADE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Slice design</Template>
  <TotalTime>356</TotalTime>
  <Words>210</Words>
  <Application>Microsoft Office PowerPoint</Application>
  <PresentationFormat>Widescreen</PresentationFormat>
  <Paragraphs>50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Slice</vt:lpstr>
      <vt:lpstr>SCRUM 3</vt:lpstr>
      <vt:lpstr>Team members &amp; ROLES</vt:lpstr>
      <vt:lpstr>Project goals</vt:lpstr>
      <vt:lpstr>Approach</vt:lpstr>
      <vt:lpstr>classes</vt:lpstr>
      <vt:lpstr>Db class</vt:lpstr>
      <vt:lpstr>api</vt:lpstr>
      <vt:lpstr>Client ajax</vt:lpstr>
      <vt:lpstr>Debugging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Mayer, Victoria P</dc:creator>
  <cp:lastModifiedBy>Mayer, Victoria P</cp:lastModifiedBy>
  <cp:revision>1</cp:revision>
  <dcterms:created xsi:type="dcterms:W3CDTF">2026-03-28T21:17:23Z</dcterms:created>
  <dcterms:modified xsi:type="dcterms:W3CDTF">2026-03-29T03:14:14Z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